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3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BD60F-39E0-4834-B0B8-47B69D5879F0}" type="datetimeFigureOut">
              <a:rPr lang="ru-UA" smtClean="0"/>
              <a:t>11.07.2026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90488-B895-4D1A-A9D5-9D167D8F03E3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4612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90488-B895-4D1A-A9D5-9D167D8F03E3}" type="slidenum">
              <a:rPr lang="ru-UA" smtClean="0"/>
              <a:t>5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0133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90488-B895-4D1A-A9D5-9D167D8F03E3}" type="slidenum">
              <a:rPr lang="ru-UA" smtClean="0"/>
              <a:t>7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03654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90488-B895-4D1A-A9D5-9D167D8F03E3}" type="slidenum">
              <a:rPr lang="ru-UA" smtClean="0"/>
              <a:t>8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7537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790488-B895-4D1A-A9D5-9D167D8F03E3}" type="slidenum">
              <a:rPr lang="ru-UA" smtClean="0"/>
              <a:t>13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38476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44E07-032B-401C-A616-99082E865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0D4F8A-45AE-4EE3-9A79-DA438397D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DA8E00-07FB-499B-8696-88EB71A8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8262B6-6F13-4C4F-B7F1-96D9336A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A6C8CE-8F40-462E-A772-EB7039D6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0759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0AB60-39B4-4C1C-A32D-3D1D360E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8BD082-7A0F-44FE-9585-BE2D5323B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B92166-A00C-42BD-8203-E41D1122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7D5B8-646B-405C-9D69-F48D269E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F9006E-9D49-499C-8786-5BDA4B59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028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8035A-0847-4064-B6B3-6F4571E7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921038-3FB2-4C3D-B707-F802FFCC9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8F278-7B22-4064-A9E3-7CDE3642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B91214-1178-419D-92C8-B699D4AE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EFD5CC-FAE2-4F7B-9978-B18E133E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7403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D2854-1B24-4B9B-8E3F-099D6F53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C124B2-4069-478B-B3C4-A2DCE15A8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24201D-50ED-4BD9-B1D5-30A619665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65B2BD-CF41-44CD-9215-87F7725F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C1601C-B862-4F5D-BAAF-C680E646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B7789A-77E1-4614-8961-C369D7FA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6258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159D3-698C-4ABB-A5D0-CC657A24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09914C-AED8-49D6-893C-367C224B2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2B810D-5161-4E57-A743-BE5F8A984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0F2F77-B204-4064-B1CE-909BEDFBC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A11C56-0E7F-4BD4-A9C2-3FF1C4187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A4A6E1-D683-4B3F-AC8B-FB052238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CCE6D7-B399-419E-8ACE-49EA0A8B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CF382E-4F58-4918-BCD7-B18E5847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98630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76024-B984-49E2-ACBB-F46082D6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CC546D-410F-4DB1-97DF-1C660D09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F07A45-2EE9-4472-A298-F23E4918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377E0E-E17C-453F-A385-C93EBC44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6362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EC47DB-73F4-405A-88AA-AA64DE17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DEBB4E-2074-4CE5-944D-2C98075C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D74937-76C5-4771-B2D4-B119579C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72081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0F676-661F-4583-B551-48CB301E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36F6F-156E-4373-9EFD-196758DF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C067F8-F4FA-4C3F-9E3F-42E597E12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627C26-AFF4-4176-A5B6-C6D04DEB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BC5BC7-467E-4D02-A62C-5CE66A67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B08600-5961-46A2-BA42-0EF96D7A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0534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9A47F-DE6E-46B4-9E81-82200236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1FF93D-BF0D-470E-9F46-358397FB7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E6710D-0F5F-4EE3-9128-F2062D2B5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91F16C-004E-4096-8D2C-4C126AA4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596882-896F-4A56-999B-3482DB4B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63A140-FB90-4480-AB9A-FA876A0D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6908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12B6C-038E-4144-A383-EB6F8900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C98AC8-AEFE-4B8D-B978-B83820EFB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CAE7DF-E1D7-430E-9D27-6532DD2E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034153-96BD-4D35-911A-125AE738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9D540-44F5-43FF-8A69-4F9DE388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64209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2D4AA1-18FA-4D60-991D-FD197CC24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D4B2ED-67DB-4D24-9966-FE2828493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51B603-BB8E-4E9C-9D1A-3FF54F51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AD997-B6B4-4EC7-835E-89375F61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B0B3F3-A9AD-4892-A2D9-C64ED5AA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0770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38E7E-308B-445B-95CB-F10B5B1A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D3F2F5-4260-4015-99C7-CED52282B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3DD1DE-B2F7-4765-B0AF-5841DA4BF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B4BD0-F779-4FAC-A888-381C0D1A177B}" type="datetimeFigureOut">
              <a:rPr lang="ru-UA" smtClean="0"/>
              <a:t>10.07.2026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20753B-D0D5-4DC2-B4B0-FEEFD59C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79524D-1D3D-4508-82DD-5E4945950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1B5C8-22E8-4057-8E07-E23EF44A302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924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BB84BCDB-6F8E-427A-9994-7A5BB551F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F7C86F-A400-488D-AF33-AA6B50C96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FE682-480A-44E8-BC22-7E18E9452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моніторингу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криптовалютних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активів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090871-9B76-4E86-8F8B-5ACB030B0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07756"/>
            <a:ext cx="9144000" cy="1655762"/>
          </a:xfrm>
        </p:spPr>
        <p:txBody>
          <a:bodyPr/>
          <a:lstStyle/>
          <a:p>
            <a:pPr algn="l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Карпов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Дмитро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Геннадійович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ПЗПІз-22-1</a:t>
            </a:r>
          </a:p>
          <a:p>
            <a:pPr algn="l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доц. каф. ПІ Калиниченко О. В.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7BCE8-D9EA-438D-BFCC-FBAE9F34DCA5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5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2DA72F9D-0A05-4D45-BB0B-AA449C282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BA41E3-577C-4F5A-AECB-7555D7EA8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C8B86-67F7-4086-9326-D5C9A112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4208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 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C90C4-2BD9-4265-A304-08432022C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88297"/>
            <a:ext cx="11459411" cy="1047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реалізація багатофункціонального веб-орієнтованого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криптоскринера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аналізу ринкових даних у режимі реального часу з автоматичним виявленням торгових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патернів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D4199-0054-4E75-AC3D-28794615E921}"/>
              </a:ext>
            </a:extLst>
          </p:cNvPr>
          <p:cNvSpPr txBox="1"/>
          <p:nvPr/>
        </p:nvSpPr>
        <p:spPr>
          <a:xfrm>
            <a:off x="508000" y="222782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Аналітичні можливості: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автоматичний пошук 7 типів ринкових формацій (пробої,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ретести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злами структури,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проторгівлі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тощо)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детектування цінових імпульсів на основі динамічної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волатильності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візуалізація теплової карти щільності стакана ордерів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гнучке налаштування візуальних та звукових цінових сповіщень.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65D38-CA6C-4E77-903D-DEFC71D7C48E}"/>
              </a:ext>
            </a:extLst>
          </p:cNvPr>
          <p:cNvSpPr txBox="1"/>
          <p:nvPr/>
        </p:nvSpPr>
        <p:spPr>
          <a:xfrm>
            <a:off x="6604000" y="2227823"/>
            <a:ext cx="556215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Технічні та операційні можливості: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компактний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мульти-графіковий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режим (одночасний моніторинг до 24 активів на екрані)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високопродуктивна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відмальовка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графіків на базі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 API (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стабільні 60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FPS);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агрегація потокових даних через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обходом лімітів підключень бірж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OKX;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збереження конфігурацій робочого простору в локальному сховищі браузера.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4DD3D-34F5-4A69-992C-15F804A77F9D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9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65140AEF-8240-47BF-ACD2-50E8CE4AA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54A92AA-CA98-43CE-8E7D-861E58F03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FB65B-4FA5-4760-B23F-84C2D5DD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14" y="95476"/>
            <a:ext cx="6921137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аналогів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FF7ED-18DB-4254-ABD1-48B3ABA5DD0D}"/>
              </a:ext>
            </a:extLst>
          </p:cNvPr>
          <p:cNvSpPr txBox="1"/>
          <p:nvPr/>
        </p:nvSpPr>
        <p:spPr>
          <a:xfrm>
            <a:off x="589713" y="1366897"/>
            <a:ext cx="62873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TradingView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жорсткі ліміти безкоштовної версії (лише 1 графік на екран) та суворо закрита екосистема. Обмежений стандартний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перешкоджає впровадженню складних кастомних алгоритмів аналізу та візуалізації мікроструктури ринку.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FB52EF2-6595-4BBB-A9B9-4ECDCC7A0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961" y="1199190"/>
            <a:ext cx="4421705" cy="22298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BC01686-7F44-4E1D-A432-C8E2120B9ACD}"/>
              </a:ext>
            </a:extLst>
          </p:cNvPr>
          <p:cNvSpPr txBox="1"/>
          <p:nvPr/>
        </p:nvSpPr>
        <p:spPr>
          <a:xfrm>
            <a:off x="589713" y="3640762"/>
            <a:ext cx="62873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Digash.live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Нераціональне використання робочого простору через розтягування кожного граф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іку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що критично зменшує площу для аналізу більшої кількості графіків.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Фрагментована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доступу штучно розбиває інструментарій на окремі платні модулі, змушуючи користувача купувати декілька підписок одночасно. 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3096973-EE86-4006-A7FB-DB08C2B6B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961" y="3869932"/>
            <a:ext cx="4421705" cy="241233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C16F5A-BF12-4DFC-87F4-5BFE6836B897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9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A16DA2D8-11E9-4AC7-BEB9-31196DFB6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C1DAF8-84FB-44E0-B6A5-122CFC152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930B8-B860-4286-9E94-3557DF25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75" y="0"/>
            <a:ext cx="77978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AF6AC-1533-4196-91C4-B41D743893BE}"/>
              </a:ext>
            </a:extLst>
          </p:cNvPr>
          <p:cNvSpPr txBox="1"/>
          <p:nvPr/>
        </p:nvSpPr>
        <p:spPr>
          <a:xfrm>
            <a:off x="477476" y="1070370"/>
            <a:ext cx="11461638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 система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VTC Screen </a:t>
            </a: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складається з клієнтської та серверної частини.</a:t>
            </a:r>
          </a:p>
          <a:p>
            <a:pPr>
              <a:lnSpc>
                <a:spcPct val="150000"/>
              </a:lnSpc>
            </a:pP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Очікуваний основний функціонал: агрегація даних з бірж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оптимізована візуалізація свічкових графіків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автоматичний пошук формацій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стакана ордерів та система сповіщень. </a:t>
            </a:r>
          </a:p>
          <a:p>
            <a:pPr>
              <a:lnSpc>
                <a:spcPct val="150000"/>
              </a:lnSpc>
            </a:pP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системі передбачено єдину категорію користувачів - </a:t>
            </a:r>
            <a:r>
              <a:rPr lang="uk-UA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трейдер</a:t>
            </a:r>
            <a:r>
              <a:rPr lang="uk-UA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який має повний доступ до всього функціоналу. Збереження конфігурацій відбувається у локальному сховищі браузера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UA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78B21-B2D3-4028-B48C-1EC7105C487A}"/>
              </a:ext>
            </a:extLst>
          </p:cNvPr>
          <p:cNvSpPr txBox="1"/>
          <p:nvPr/>
        </p:nvSpPr>
        <p:spPr>
          <a:xfrm>
            <a:off x="477475" y="2965119"/>
            <a:ext cx="11461639" cy="2720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досягнення поставленої мети необхідно розв'язати наступні завдання:</a:t>
            </a:r>
          </a:p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спроєктувати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загальну архітектуру клієнт-серверного застосунку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розробити серверну частину для агрегації та нормалізації даних з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криптовалютних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бірж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Bybit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OKX);</a:t>
            </a:r>
          </a:p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розробити клієнтську частину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розробити математичне алгоритмічне ядро для автоматичного детектування 7 типів графічних формацій та цінових імпульсів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реалізувати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відмовостійку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підсистему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отримання потокових даних у режимі реального часу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розробити користувацький інтерфейс з </a:t>
            </a:r>
            <a:r>
              <a:rPr lang="uk-U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мульти-графіковим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режимом (моніторинг до 24 активів одночасно).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0946F-9670-4C98-A0ED-8236927D556A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41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C11DDF6-2793-47D9-9C27-14378C696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59" y="1035508"/>
            <a:ext cx="11128082" cy="5752642"/>
          </a:xfrm>
          <a:prstGeom prst="rect">
            <a:avLst/>
          </a:prstGeom>
        </p:spPr>
      </p:pic>
      <p:pic>
        <p:nvPicPr>
          <p:cNvPr id="14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15C41DEE-DB66-419D-97EB-417144F42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38800"/>
            <a:ext cx="1149350" cy="114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FA6F420-E3C4-4EF1-9F73-A4DE9BC33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BBA86-0F8C-4699-9B9B-97D0A85D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59" y="0"/>
            <a:ext cx="9211733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18ED7-ED97-4026-8AF2-4B305C12AD62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4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44A14DFA-0245-46BA-8702-1E4531B73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7E747C-1C66-4A03-ACEE-1C61EA36D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EA925-3024-4EF7-AB14-44C10AB9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133" y="6032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Вибір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85EA93B-7FD5-4223-B14C-4A3D70E70E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399" y="1223634"/>
            <a:ext cx="116586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Next.js 14+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побудова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клієнт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-серверного веб-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глобального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станом;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суворої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типізації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підвищення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надійності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коду;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Tailwind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CSS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Lucide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стилізація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UI-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іконок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високопродуктивний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кастомний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рендеринг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свічкових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графіків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об'ємів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індикаторів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замість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сторонніх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підключення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агрегація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потокових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бірж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Binance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Bybit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OKX) у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режимі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реального часу (через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WSManager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Next.js API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-шлюзу) для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проксіювання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запитів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бірж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зовнішніх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сповіщень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безпечного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тунелю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вебхуків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Audio API —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генерування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звукових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сигналів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спрацьовуванні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користувацьких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алертів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ринкових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імпульсів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302EAF-7B59-4E25-BFC2-FC256C5366EA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458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25AE1534-B676-4FC2-861C-B11927241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B7E440-272F-42B1-A16D-AFC395600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594C2-17AD-4BCC-8F56-63F5E6BD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66" y="103922"/>
            <a:ext cx="11438466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створеного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3ED5FBE-8778-4DB4-97E2-66E74F4CA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53" y="1481993"/>
            <a:ext cx="6558291" cy="4351338"/>
          </a:xfr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EFD8D5D-5EFE-4CFB-9C06-7811E52CE982}"/>
              </a:ext>
            </a:extLst>
          </p:cNvPr>
          <p:cNvSpPr/>
          <p:nvPr/>
        </p:nvSpPr>
        <p:spPr>
          <a:xfrm>
            <a:off x="4388992" y="5981700"/>
            <a:ext cx="341401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r>
              <a:rPr lang="ru-RU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розгортування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93823-95E3-4B16-926B-3FE1ED0EF23D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3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AE8546E7-A53B-4B33-AD23-B32A174C2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507F91-FBDA-4973-8286-86FBDAC1D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DE64B-1247-4CFB-B9D3-DDB318A7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34521"/>
            <a:ext cx="11361042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створеного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1BAB02-7F84-43D7-9764-7C4E1404C6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016" y="1024669"/>
            <a:ext cx="7270584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основу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покладено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компонентну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архітектуру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де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логіка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обчислень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суворо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ізольована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підсистеми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візуалізації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даними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 реальному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часі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патерн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централізовано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агрегує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WSS-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бірж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розподіляє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віджетами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перевантаження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головного потоку;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Стан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функціонує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 реактивною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моделлю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миттєве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оновлення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ізольованих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виникненні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імпульсів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детектуванні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патернів</a:t>
            </a:r>
            <a:r>
              <a:rPr kumimoji="0" lang="ru-UA" altLang="ru-UA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43DB62F-F931-4E12-988E-7C7CF14E1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09" y="1972406"/>
            <a:ext cx="3314700" cy="4248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C0D260-E88B-431E-9848-9C5B8E8DAB62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57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B522E941-5A36-448F-A3A6-B13D9B123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06C689-F7F6-4E30-BBEB-812120E51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2F219-BD2E-4551-9FE2-E9327EB7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658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використано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227F298-0BF3-4979-BE40-9C113D0BE3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05" y="1835067"/>
            <a:ext cx="1343526" cy="134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ithub Logo - Free social media icons">
            <a:extLst>
              <a:ext uri="{FF2B5EF4-FFF2-40B4-BE49-F238E27FC236}">
                <a16:creationId xmlns:a16="http://schemas.microsoft.com/office/drawing/2014/main" id="{E8B53BCF-C94A-4920-B52D-6CA3D66F2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464" y="1648577"/>
            <a:ext cx="1716505" cy="171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ntro to Chrome DevTools">
            <a:extLst>
              <a:ext uri="{FF2B5EF4-FFF2-40B4-BE49-F238E27FC236}">
                <a16:creationId xmlns:a16="http://schemas.microsoft.com/office/drawing/2014/main" id="{8D03789A-F0B3-404D-8933-58155E36F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705" y="3509461"/>
            <a:ext cx="3581400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Ngrok icon - Free Download PNG &amp; SVG | Streamline">
            <a:extLst>
              <a:ext uri="{FF2B5EF4-FFF2-40B4-BE49-F238E27FC236}">
                <a16:creationId xmlns:a16="http://schemas.microsoft.com/office/drawing/2014/main" id="{D7F296FD-5412-442E-A8BF-1C05A9C33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2" y="1135481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9198D36B-554E-4058-8DBA-62B49CD67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310" y="3595339"/>
            <a:ext cx="3943265" cy="241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02BF06-1404-47E0-B733-5B2123349D0B}"/>
              </a:ext>
            </a:extLst>
          </p:cNvPr>
          <p:cNvSpPr txBox="1"/>
          <p:nvPr/>
        </p:nvSpPr>
        <p:spPr>
          <a:xfrm>
            <a:off x="11868150" y="621658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9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7C580E06-208D-4282-A405-026ABF2E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9B5822C-841B-400B-B758-6B5ED239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02E7C-516B-4C4B-BCCA-9739840B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9BCF286-0FC8-455C-AEF0-008F2BA39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564" y="1658938"/>
            <a:ext cx="8896350" cy="4953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B06AA5-406C-434E-AC24-7B4BC4C015FC}"/>
              </a:ext>
            </a:extLst>
          </p:cNvPr>
          <p:cNvSpPr txBox="1"/>
          <p:nvPr/>
        </p:nvSpPr>
        <p:spPr>
          <a:xfrm>
            <a:off x="838200" y="1094730"/>
            <a:ext cx="5102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знаходження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пробою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рівня</a:t>
            </a:r>
            <a:endParaRPr lang="ru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0C2453-5108-46C1-AC90-1D4C2CB47DE6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54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3167707D-B748-4DC0-8CD9-17CC56865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FBEE10-042D-4080-8D9D-B8BBA2210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E8F85-57C7-45D2-B7A8-F420A107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114341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CA87A34-DF70-4AED-BD3D-0E281AB72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1941526"/>
            <a:ext cx="11080678" cy="288714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A085CC-0B69-48A7-A18C-3BB760F35F6A}"/>
              </a:ext>
            </a:extLst>
          </p:cNvPr>
          <p:cNvSpPr txBox="1"/>
          <p:nvPr/>
        </p:nvSpPr>
        <p:spPr>
          <a:xfrm>
            <a:off x="838200" y="1291121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знаходження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трендової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лінії</a:t>
            </a:r>
            <a:endParaRPr lang="ru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DE2C5-9A4E-4EF3-9D37-131EBD994CDD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35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A47356CD-8AF1-4666-A939-A0A8F42C7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A597836-B718-4BD7-8222-4CAFCEDBD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3A5A1-697D-4CD2-AAD1-8A0BE92C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82" y="-242358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9B02E0-7B49-46DC-AD17-81FA707DDCB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39056" y="758296"/>
            <a:ext cx="9513886" cy="5029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9DDA58D-C423-4644-B2FA-9C0AC1B8704A}"/>
              </a:ext>
            </a:extLst>
          </p:cNvPr>
          <p:cNvSpPr txBox="1"/>
          <p:nvPr/>
        </p:nvSpPr>
        <p:spPr>
          <a:xfrm>
            <a:off x="4884642" y="5893741"/>
            <a:ext cx="2422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</a:t>
            </a:r>
            <a:endParaRPr lang="ru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D4F672-6325-4CD6-AA89-2BE934EDE0A5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71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E0165301-E024-46B3-B234-007A51F89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A1805A-19C8-4866-8B9D-0C14B75AB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3A5A1-697D-4CD2-AAD1-8A0BE92C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Карточка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графіку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308629-E380-4B9A-A8FD-377D10531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564" y="1701802"/>
            <a:ext cx="3657600" cy="15525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38D4EF-A150-4F1C-A3DB-5A5AEE5E8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4104598"/>
            <a:ext cx="3705225" cy="1543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C78A4E-5842-4383-9B36-1106F0E620DC}"/>
              </a:ext>
            </a:extLst>
          </p:cNvPr>
          <p:cNvSpPr txBox="1"/>
          <p:nvPr/>
        </p:nvSpPr>
        <p:spPr>
          <a:xfrm>
            <a:off x="2070028" y="3381813"/>
            <a:ext cx="17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Базовий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вигляд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23612F-2347-4E2D-892B-CDB6C7B1BAD9}"/>
              </a:ext>
            </a:extLst>
          </p:cNvPr>
          <p:cNvSpPr txBox="1"/>
          <p:nvPr/>
        </p:nvSpPr>
        <p:spPr>
          <a:xfrm>
            <a:off x="7985590" y="5797426"/>
            <a:ext cx="2516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інструментами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414E700-0C22-4AEC-9D3A-95041ED86126}"/>
              </a:ext>
            </a:extLst>
          </p:cNvPr>
          <p:cNvCxnSpPr/>
          <p:nvPr/>
        </p:nvCxnSpPr>
        <p:spPr>
          <a:xfrm>
            <a:off x="1514475" y="1555635"/>
            <a:ext cx="152400" cy="2667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68AEA57-06BA-470B-8BC2-B8AA04E60172}"/>
              </a:ext>
            </a:extLst>
          </p:cNvPr>
          <p:cNvCxnSpPr>
            <a:cxnSpLocks/>
          </p:cNvCxnSpPr>
          <p:nvPr/>
        </p:nvCxnSpPr>
        <p:spPr>
          <a:xfrm>
            <a:off x="1855786" y="1574366"/>
            <a:ext cx="28575" cy="241504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60A8FBC9-AFB2-4A91-BA98-818B2C589E12}"/>
              </a:ext>
            </a:extLst>
          </p:cNvPr>
          <p:cNvCxnSpPr>
            <a:cxnSpLocks/>
          </p:cNvCxnSpPr>
          <p:nvPr/>
        </p:nvCxnSpPr>
        <p:spPr>
          <a:xfrm flipH="1">
            <a:off x="2352675" y="1430574"/>
            <a:ext cx="266700" cy="33703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9C7FFF45-2BE0-4395-84D6-093DB215E40F}"/>
              </a:ext>
            </a:extLst>
          </p:cNvPr>
          <p:cNvCxnSpPr>
            <a:cxnSpLocks/>
          </p:cNvCxnSpPr>
          <p:nvPr/>
        </p:nvCxnSpPr>
        <p:spPr>
          <a:xfrm flipH="1">
            <a:off x="2820992" y="1399022"/>
            <a:ext cx="3560140" cy="37241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2000EF0-0D0D-4891-873E-683AC9169F25}"/>
              </a:ext>
            </a:extLst>
          </p:cNvPr>
          <p:cNvCxnSpPr>
            <a:cxnSpLocks/>
          </p:cNvCxnSpPr>
          <p:nvPr/>
        </p:nvCxnSpPr>
        <p:spPr>
          <a:xfrm flipH="1">
            <a:off x="3512346" y="1599090"/>
            <a:ext cx="3429792" cy="23768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5BFEB8C4-08A8-471C-9899-5A8E64222CF2}"/>
              </a:ext>
            </a:extLst>
          </p:cNvPr>
          <p:cNvCxnSpPr>
            <a:cxnSpLocks/>
          </p:cNvCxnSpPr>
          <p:nvPr/>
        </p:nvCxnSpPr>
        <p:spPr>
          <a:xfrm>
            <a:off x="962025" y="2089035"/>
            <a:ext cx="439739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392F72F6-D8D1-4147-94A0-074A7129549D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4905376" y="1822335"/>
            <a:ext cx="685800" cy="28411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53A161EE-A029-4445-AB20-BD916E2AEA4B}"/>
              </a:ext>
            </a:extLst>
          </p:cNvPr>
          <p:cNvCxnSpPr>
            <a:cxnSpLocks/>
          </p:cNvCxnSpPr>
          <p:nvPr/>
        </p:nvCxnSpPr>
        <p:spPr>
          <a:xfrm flipH="1" flipV="1">
            <a:off x="4601062" y="2256581"/>
            <a:ext cx="1233000" cy="31295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80507E4E-F22E-4273-A89D-C030A084AE64}"/>
              </a:ext>
            </a:extLst>
          </p:cNvPr>
          <p:cNvCxnSpPr>
            <a:cxnSpLocks/>
          </p:cNvCxnSpPr>
          <p:nvPr/>
        </p:nvCxnSpPr>
        <p:spPr>
          <a:xfrm>
            <a:off x="8924925" y="3340684"/>
            <a:ext cx="809625" cy="86496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4DA734D9-6CD5-4F68-A9BE-7ED20CE444DD}"/>
              </a:ext>
            </a:extLst>
          </p:cNvPr>
          <p:cNvCxnSpPr>
            <a:cxnSpLocks/>
          </p:cNvCxnSpPr>
          <p:nvPr/>
        </p:nvCxnSpPr>
        <p:spPr>
          <a:xfrm flipH="1">
            <a:off x="10648951" y="3057525"/>
            <a:ext cx="174482" cy="114812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BD1BA41E-1531-4466-B074-DB5F711C0BC7}"/>
              </a:ext>
            </a:extLst>
          </p:cNvPr>
          <p:cNvCxnSpPr>
            <a:cxnSpLocks/>
          </p:cNvCxnSpPr>
          <p:nvPr/>
        </p:nvCxnSpPr>
        <p:spPr>
          <a:xfrm>
            <a:off x="10121972" y="3057525"/>
            <a:ext cx="107879" cy="10972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D968419-5ABF-42C3-BBBA-E9376B3E4C59}"/>
              </a:ext>
            </a:extLst>
          </p:cNvPr>
          <p:cNvSpPr txBox="1"/>
          <p:nvPr/>
        </p:nvSpPr>
        <p:spPr>
          <a:xfrm>
            <a:off x="109254" y="1245908"/>
            <a:ext cx="1424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Тікер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активу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5FA8E2-3ED8-4DCB-B676-0293B7AE8037}"/>
              </a:ext>
            </a:extLst>
          </p:cNvPr>
          <p:cNvSpPr txBox="1"/>
          <p:nvPr/>
        </p:nvSpPr>
        <p:spPr>
          <a:xfrm>
            <a:off x="1507222" y="1155376"/>
            <a:ext cx="141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Біржа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D1088D-E812-4FC1-AA51-4E77AD612039}"/>
              </a:ext>
            </a:extLst>
          </p:cNvPr>
          <p:cNvSpPr txBox="1"/>
          <p:nvPr/>
        </p:nvSpPr>
        <p:spPr>
          <a:xfrm>
            <a:off x="2505076" y="108408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24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години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AF08FE-294B-49E9-89E0-5668F7FCEE8D}"/>
              </a:ext>
            </a:extLst>
          </p:cNvPr>
          <p:cNvSpPr txBox="1"/>
          <p:nvPr/>
        </p:nvSpPr>
        <p:spPr>
          <a:xfrm>
            <a:off x="6923879" y="1357668"/>
            <a:ext cx="141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NATR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CAE209-ECE8-490E-9CA2-A6CE8017B799}"/>
              </a:ext>
            </a:extLst>
          </p:cNvPr>
          <p:cNvSpPr txBox="1"/>
          <p:nvPr/>
        </p:nvSpPr>
        <p:spPr>
          <a:xfrm>
            <a:off x="6381132" y="1042295"/>
            <a:ext cx="141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F05BD90-06FF-4F97-A19C-C4B1EA838982}"/>
              </a:ext>
            </a:extLst>
          </p:cNvPr>
          <p:cNvSpPr txBox="1"/>
          <p:nvPr/>
        </p:nvSpPr>
        <p:spPr>
          <a:xfrm>
            <a:off x="5591176" y="1921781"/>
            <a:ext cx="3511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виставлених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сповіщень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45BF33-E1E1-40D4-B068-E65B1A036657}"/>
              </a:ext>
            </a:extLst>
          </p:cNvPr>
          <p:cNvSpPr txBox="1"/>
          <p:nvPr/>
        </p:nvSpPr>
        <p:spPr>
          <a:xfrm>
            <a:off x="5738430" y="2440695"/>
            <a:ext cx="2486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яку поставлено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сповіщення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16E9BF-7471-4D49-80B8-490494A64715}"/>
              </a:ext>
            </a:extLst>
          </p:cNvPr>
          <p:cNvSpPr txBox="1"/>
          <p:nvPr/>
        </p:nvSpPr>
        <p:spPr>
          <a:xfrm>
            <a:off x="-5559" y="1756499"/>
            <a:ext cx="1419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Кореляція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BTC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D7D0F8-94AD-4370-B30D-C75DD4F093FF}"/>
              </a:ext>
            </a:extLst>
          </p:cNvPr>
          <p:cNvSpPr txBox="1"/>
          <p:nvPr/>
        </p:nvSpPr>
        <p:spPr>
          <a:xfrm>
            <a:off x="8073539" y="3025375"/>
            <a:ext cx="141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EMA20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0D93CA-2DDB-4F15-8F5E-870B7C7F0265}"/>
              </a:ext>
            </a:extLst>
          </p:cNvPr>
          <p:cNvSpPr txBox="1"/>
          <p:nvPr/>
        </p:nvSpPr>
        <p:spPr>
          <a:xfrm>
            <a:off x="9217025" y="2430236"/>
            <a:ext cx="1835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малювання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0DDF32-2666-497F-A575-3A35349FD308}"/>
              </a:ext>
            </a:extLst>
          </p:cNvPr>
          <p:cNvSpPr txBox="1"/>
          <p:nvPr/>
        </p:nvSpPr>
        <p:spPr>
          <a:xfrm>
            <a:off x="10748040" y="2476270"/>
            <a:ext cx="1419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Кольорова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endParaRPr lang="ru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971BC7-BA52-4BC2-8319-398B42D3FF7E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85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557A9697-FB05-497D-9076-FEDA37483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E3AC74A-0ACF-421D-BA25-FA04F65F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3A5A1-697D-4CD2-AAD1-8A0BE92C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82" y="-25400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3A85A1-B333-41D5-8C9D-811F7FD06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633" y="731043"/>
            <a:ext cx="9592733" cy="53959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EC1247-839F-47E0-AF66-303C0BB3019A}"/>
              </a:ext>
            </a:extLst>
          </p:cNvPr>
          <p:cNvSpPr txBox="1"/>
          <p:nvPr/>
        </p:nvSpPr>
        <p:spPr>
          <a:xfrm>
            <a:off x="2857708" y="6125368"/>
            <a:ext cx="6476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сканер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формацій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монетах</a:t>
            </a:r>
            <a:endParaRPr lang="ru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B59E4-ACE7-49AD-9787-65C37299B9F3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69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B376115B-E47D-4E2C-BEDF-0F84EAFA6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5667375"/>
            <a:ext cx="1122892" cy="112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637281-2271-43E9-9C75-CA487A267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1357E-0B09-4CE7-800A-FC7EDB8B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05" y="67733"/>
            <a:ext cx="10515600" cy="759355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CFC59E-A9FD-425E-B92A-AD42EE9FC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4005" y="827088"/>
            <a:ext cx="11285120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Навантажувальне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ідтверджено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високу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плавність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відображення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мульти-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графікового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пікових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навантаженнях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завдяки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оптимізованому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рендерингу на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базі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kumimoji="0" lang="en-US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UA" altLang="ru-UA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відмовостійкості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еревірено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стабільність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мережевих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модулів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Система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відновлює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WebSocket-з'єднання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біржами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імітації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розривів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втрати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критично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важливих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потокових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en-US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ru-UA" altLang="ru-UA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алгоритмів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роведено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комплексне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математичного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ядра.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Підтверджено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коректність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розрахунків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успішне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автоматичне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детектування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графічних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патернів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цінових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імпульсів</a:t>
            </a:r>
            <a:r>
              <a:rPr lang="en-US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UA" altLang="ru-UA" sz="1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Профілювання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ресурсів</a:t>
            </a:r>
            <a:r>
              <a:rPr kumimoji="0" lang="ru-RU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 результатами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доведено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ефективність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архітектури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alt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підтверджено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витоків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надмірного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споживання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оперативної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тривалого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безперервного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UA" altLang="ru-UA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моніторингу</a:t>
            </a:r>
            <a:r>
              <a:rPr kumimoji="0" lang="ru-UA" altLang="ru-UA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ринку.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C3784-1D92-4E30-8960-075657AA817C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311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афедра програмної інженерії ХНУРЕ | Kharkiv">
            <a:extLst>
              <a:ext uri="{FF2B5EF4-FFF2-40B4-BE49-F238E27FC236}">
                <a16:creationId xmlns:a16="http://schemas.microsoft.com/office/drawing/2014/main" id="{0A77ED5B-B7AA-40E4-8B11-D97F2DEE5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2586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644501-37FE-4202-AE86-4D18F566E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6530180"/>
            <a:ext cx="12344400" cy="3524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8AE40-A88A-4989-8DE1-6EA00F1E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Підсумки</a:t>
            </a:r>
            <a:endParaRPr lang="ru-UA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45E3F-CF1B-45A8-A33E-10D257B81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485"/>
            <a:ext cx="11077575" cy="47110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Розроблена система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VTC Screen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є клієнт-серверним застосунком для моніторингу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криптовалютного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ринку. У ході роботи повністю досягнуто поставленої мети та виконано всі заплановані завдання.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Завдяки кастомному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рендерингу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 API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стабільний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мульти-графіковий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режим без перевантаження ресурсів браузера. Математичне ядро в реальному часі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детектує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імпульси та сім типів графічних формацій.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Побудовано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відмовостійку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архітектуру для агрегації потокових даних через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бірж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OKX.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 мінімізує когнітивне навантаження на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трейдера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автоматизуючи рутинний аналіз ринку.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6AF1C-5E5C-4BAC-A51C-718017033D82}"/>
              </a:ext>
            </a:extLst>
          </p:cNvPr>
          <p:cNvSpPr txBox="1"/>
          <p:nvPr/>
        </p:nvSpPr>
        <p:spPr>
          <a:xfrm>
            <a:off x="11718928" y="6211828"/>
            <a:ext cx="54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5561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</TotalTime>
  <Words>888</Words>
  <Application>Microsoft Office PowerPoint</Application>
  <PresentationFormat>Широкоэкранный</PresentationFormat>
  <Paragraphs>102</Paragraphs>
  <Slides>16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Система моніторингу криптовалютних активів</vt:lpstr>
      <vt:lpstr>Мета роботи </vt:lpstr>
      <vt:lpstr>Аналіз аналогів та їх недоліки:</vt:lpstr>
      <vt:lpstr>Постановка задачі та опис системи</vt:lpstr>
      <vt:lpstr>Проєктування програмного забезпечення</vt:lpstr>
      <vt:lpstr>Вибір технологій розробки</vt:lpstr>
      <vt:lpstr>Архітектура створеного програмного забезпечення</vt:lpstr>
      <vt:lpstr>Архітектура створеного програмного забезпечення</vt:lpstr>
      <vt:lpstr>Опис програмного забезпечення, що було використано</vt:lpstr>
      <vt:lpstr>Приклад реалізації</vt:lpstr>
      <vt:lpstr>Приклад реалізації</vt:lpstr>
      <vt:lpstr>Інтерфейс користувача</vt:lpstr>
      <vt:lpstr>Інтерфейс користувача. Карточка графіку</vt:lpstr>
      <vt:lpstr>Інтерфейс користувача</vt:lpstr>
      <vt:lpstr>Тестування</vt:lpstr>
      <vt:lpstr>Підсумки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Титульна сторінка</dc:title>
  <dc:creator>Дмитрий Карпов</dc:creator>
  <cp:lastModifiedBy>Дмитрий Карпов</cp:lastModifiedBy>
  <cp:revision>98</cp:revision>
  <dcterms:created xsi:type="dcterms:W3CDTF">2026-07-10T20:41:52Z</dcterms:created>
  <dcterms:modified xsi:type="dcterms:W3CDTF">2026-07-11T12:15:24Z</dcterms:modified>
</cp:coreProperties>
</file>